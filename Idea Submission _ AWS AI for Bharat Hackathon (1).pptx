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1"/>
  </p:notesMasterIdLst>
  <p:sldIdLst>
    <p:sldId id="256" r:id="rId2"/>
    <p:sldId id="257" r:id="rId3"/>
    <p:sldId id="258" r:id="rId4"/>
    <p:sldId id="259" r:id="rId5"/>
    <p:sldId id="260" r:id="rId6"/>
    <p:sldId id="262" r:id="rId7"/>
    <p:sldId id="263" r:id="rId8"/>
    <p:sldId id="265" r:id="rId9"/>
    <p:sldId id="266" r:id="rId10"/>
  </p:sldIdLst>
  <p:sldSz cx="9144000" cy="5143500" type="screen16x9"/>
  <p:notesSz cx="6858000" cy="9144000"/>
  <p:embeddedFontLst>
    <p:embeddedFont>
      <p:font typeface="Manrope" panose="020B0604020202020204" charset="0"/>
      <p:regular r:id="rId12"/>
      <p:bold r:id="rId13"/>
    </p:embeddedFont>
    <p:embeddedFont>
      <p:font typeface="Manrope SemiBold" panose="020B0604020202020204" charset="0"/>
      <p:regular r:id="rId14"/>
      <p:bold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8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3b6c7e62156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b6c7e6215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b6c7e62156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b6c7e62156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b6c7e62156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b6c7e62156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b6c7e62156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b6c7e62156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b6c7e62156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b6c7e62156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b6c7e62156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b6c7e62156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b6c7e62156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b6c7e62156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b6c7e62156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b6c7e62156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title="Artscfghgboard – 5.png"/>
          <p:cNvPicPr preferRelativeResize="0"/>
          <p:nvPr/>
        </p:nvPicPr>
        <p:blipFill>
          <a:blip r:embed="rId3">
            <a:alphaModFix/>
          </a:blip>
          <a:stretch>
            <a:fillRect/>
          </a:stretch>
        </p:blipFill>
        <p:spPr>
          <a:xfrm>
            <a:off x="0" y="0"/>
            <a:ext cx="9144018" cy="5143501"/>
          </a:xfrm>
          <a:prstGeom prst="rect">
            <a:avLst/>
          </a:prstGeom>
          <a:noFill/>
          <a:ln>
            <a:noFill/>
          </a:ln>
        </p:spPr>
      </p:pic>
      <p:sp>
        <p:nvSpPr>
          <p:cNvPr id="55" name="Google Shape;55;p13"/>
          <p:cNvSpPr txBox="1"/>
          <p:nvPr/>
        </p:nvSpPr>
        <p:spPr>
          <a:xfrm>
            <a:off x="383675" y="3446998"/>
            <a:ext cx="8520600" cy="443700"/>
          </a:xfrm>
          <a:prstGeom prst="rect">
            <a:avLst/>
          </a:prstGeom>
          <a:noFill/>
          <a:ln>
            <a:noFill/>
          </a:ln>
        </p:spPr>
        <p:txBody>
          <a:bodyPr spcFirstLastPara="1" wrap="square" lIns="91425" tIns="91425" rIns="91425" bIns="91425" anchor="t" anchorCtr="0">
            <a:normAutofit/>
          </a:bodyPr>
          <a:lstStyle/>
          <a:p>
            <a:pPr lvl="0">
              <a:lnSpc>
                <a:spcPct val="80000"/>
              </a:lnSpc>
            </a:pPr>
            <a:r>
              <a:rPr lang="en-GB" sz="1600" dirty="0">
                <a:solidFill>
                  <a:srgbClr val="202729"/>
                </a:solidFill>
                <a:latin typeface="Manrope SemiBold"/>
                <a:ea typeface="Manrope SemiBold"/>
                <a:cs typeface="Manrope SemiBold"/>
                <a:sym typeface="Manrope SemiBold"/>
              </a:rPr>
              <a:t>Team Name : </a:t>
            </a:r>
            <a:r>
              <a:rPr lang="en-IN" sz="1600" dirty="0"/>
              <a:t>Team IntelliLearn</a:t>
            </a:r>
            <a:endParaRPr sz="1600" dirty="0">
              <a:solidFill>
                <a:srgbClr val="202729"/>
              </a:solidFill>
              <a:latin typeface="Manrope SemiBold"/>
              <a:ea typeface="Manrope SemiBold"/>
              <a:cs typeface="Manrope SemiBold"/>
              <a:sym typeface="Manrope SemiBold"/>
            </a:endParaRPr>
          </a:p>
        </p:txBody>
      </p:sp>
      <p:sp>
        <p:nvSpPr>
          <p:cNvPr id="56" name="Google Shape;56;p13"/>
          <p:cNvSpPr txBox="1"/>
          <p:nvPr/>
        </p:nvSpPr>
        <p:spPr>
          <a:xfrm>
            <a:off x="383680" y="4298159"/>
            <a:ext cx="8520600" cy="734757"/>
          </a:xfrm>
          <a:prstGeom prst="rect">
            <a:avLst/>
          </a:prstGeom>
          <a:noFill/>
          <a:ln>
            <a:noFill/>
          </a:ln>
        </p:spPr>
        <p:txBody>
          <a:bodyPr spcFirstLastPara="1" wrap="square" lIns="91425" tIns="91425" rIns="91425" bIns="91425" anchor="t" anchorCtr="0">
            <a:normAutofit/>
          </a:bodyPr>
          <a:lstStyle/>
          <a:p>
            <a:pPr lvl="0">
              <a:lnSpc>
                <a:spcPct val="70000"/>
              </a:lnSpc>
            </a:pPr>
            <a:r>
              <a:rPr lang="en-GB" sz="1600" dirty="0">
                <a:solidFill>
                  <a:srgbClr val="202729"/>
                </a:solidFill>
                <a:latin typeface="Manrope SemiBold"/>
                <a:ea typeface="Manrope SemiBold"/>
                <a:cs typeface="Manrope SemiBold"/>
                <a:sym typeface="Manrope SemiBold"/>
              </a:rPr>
              <a:t>Problem Statement :</a:t>
            </a:r>
            <a:r>
              <a:rPr lang="en-US" sz="1600" dirty="0"/>
              <a:t>Build an AI-powered solution that helps people learn faster, work smarter, or become more productive while building or understanding technology</a:t>
            </a:r>
            <a:r>
              <a:rPr lang="en-US" dirty="0"/>
              <a:t>.</a:t>
            </a:r>
            <a:endParaRPr sz="1600" dirty="0">
              <a:solidFill>
                <a:srgbClr val="202729"/>
              </a:solidFill>
              <a:latin typeface="Manrope SemiBold"/>
              <a:ea typeface="Manrope SemiBold"/>
              <a:cs typeface="Manrope SemiBold"/>
              <a:sym typeface="Manrope SemiBold"/>
            </a:endParaRPr>
          </a:p>
        </p:txBody>
      </p:sp>
      <p:sp>
        <p:nvSpPr>
          <p:cNvPr id="57" name="Google Shape;57;p13"/>
          <p:cNvSpPr txBox="1"/>
          <p:nvPr/>
        </p:nvSpPr>
        <p:spPr>
          <a:xfrm>
            <a:off x="383663" y="3854458"/>
            <a:ext cx="8520600" cy="443700"/>
          </a:xfrm>
          <a:prstGeom prst="rect">
            <a:avLst/>
          </a:prstGeom>
          <a:noFill/>
          <a:ln>
            <a:noFill/>
          </a:ln>
        </p:spPr>
        <p:txBody>
          <a:bodyPr spcFirstLastPara="1" wrap="square" lIns="91425" tIns="91425" rIns="91425" bIns="91425" anchor="t" anchorCtr="0">
            <a:normAutofit/>
          </a:bodyPr>
          <a:lstStyle/>
          <a:p>
            <a:pPr marL="0" lvl="0" indent="0" algn="l" rtl="0">
              <a:lnSpc>
                <a:spcPct val="80000"/>
              </a:lnSpc>
              <a:spcBef>
                <a:spcPts val="0"/>
              </a:spcBef>
              <a:spcAft>
                <a:spcPts val="0"/>
              </a:spcAft>
              <a:buNone/>
            </a:pPr>
            <a:r>
              <a:rPr lang="en-GB" sz="1600" dirty="0">
                <a:solidFill>
                  <a:srgbClr val="202729"/>
                </a:solidFill>
                <a:latin typeface="Manrope SemiBold"/>
                <a:ea typeface="Manrope SemiBold"/>
                <a:cs typeface="Manrope SemiBold"/>
                <a:sym typeface="Manrope SemiBold"/>
              </a:rPr>
              <a:t>Team Leader Name : Shravani Jaydeepp Kolte</a:t>
            </a:r>
            <a:endParaRPr sz="1600" dirty="0">
              <a:solidFill>
                <a:srgbClr val="202729"/>
              </a:solidFill>
              <a:latin typeface="Manrope SemiBold"/>
              <a:ea typeface="Manrope SemiBold"/>
              <a:cs typeface="Manrope SemiBold"/>
              <a:sym typeface="Manrope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pic>
        <p:nvPicPr>
          <p:cNvPr id="62" name="Google Shape;62;p14"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63" name="Google Shape;63;p14"/>
          <p:cNvSpPr txBox="1"/>
          <p:nvPr/>
        </p:nvSpPr>
        <p:spPr>
          <a:xfrm>
            <a:off x="282230" y="729735"/>
            <a:ext cx="8579539" cy="4072723"/>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935"/>
              <a:buNone/>
            </a:pPr>
            <a:r>
              <a:rPr lang="en-GB" sz="1700" b="1" dirty="0">
                <a:solidFill>
                  <a:srgbClr val="202729"/>
                </a:solidFill>
                <a:latin typeface="Manrope"/>
                <a:ea typeface="Manrope"/>
                <a:cs typeface="Manrope"/>
                <a:sym typeface="Manrope"/>
              </a:rPr>
              <a:t>Brief about the Idea:</a:t>
            </a:r>
          </a:p>
          <a:p>
            <a:r>
              <a:rPr lang="en-US" sz="1800" b="1" dirty="0"/>
              <a:t>DYNLEARN</a:t>
            </a:r>
            <a:r>
              <a:rPr lang="en-US" sz="1800" dirty="0"/>
              <a:t> is an AI-powered learning assistant designed to improve learning productivity for students and freshers by providing clarity on skill development. Many students invest time in learning without knowing whether their skills align with the requirements of a specific job role, leading to inefficient and unfocused learning.</a:t>
            </a:r>
          </a:p>
          <a:p>
            <a:r>
              <a:rPr lang="en-US" sz="1800" dirty="0"/>
              <a:t>DYNLEARN addresses this challenge by analyzing a student’s current skill set (through manual input or resume analysis) and comparing it with the skill requirements of a selected target job role. Using AI-driven analysis, the system identifies missing skills and prioritizes them based on relevance and importance.</a:t>
            </a:r>
          </a:p>
          <a:p>
            <a:r>
              <a:rPr lang="en-US" sz="1800" dirty="0"/>
              <a:t>By clearly highlighting what skills need to be learned first, DYNLEARN helps students learn smarter, avoid unnecessary effort, and follow a focused learning path that aligns with real-world job expectations.</a:t>
            </a:r>
          </a:p>
          <a:p>
            <a:pPr marL="0" lvl="0" indent="0" algn="l" rtl="0">
              <a:lnSpc>
                <a:spcPct val="115000"/>
              </a:lnSpc>
              <a:spcBef>
                <a:spcPts val="0"/>
              </a:spcBef>
              <a:spcAft>
                <a:spcPts val="1200"/>
              </a:spcAft>
              <a:buSzPts val="935"/>
              <a:buNone/>
            </a:pPr>
            <a:endParaRPr sz="1700" b="1" dirty="0">
              <a:solidFill>
                <a:srgbClr val="202729"/>
              </a:solidFill>
              <a:latin typeface="Manrope"/>
              <a:ea typeface="Manrope"/>
              <a:cs typeface="Manrope"/>
              <a:sym typeface="Manrop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15"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69" name="Google Shape;69;p15"/>
          <p:cNvSpPr txBox="1"/>
          <p:nvPr/>
        </p:nvSpPr>
        <p:spPr>
          <a:xfrm>
            <a:off x="460383" y="744604"/>
            <a:ext cx="8735656" cy="4028118"/>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935"/>
              <a:buNone/>
            </a:pPr>
            <a:r>
              <a:rPr lang="en-GB" sz="1700" b="1" dirty="0">
                <a:solidFill>
                  <a:srgbClr val="202729"/>
                </a:solidFill>
                <a:latin typeface="Manrope"/>
                <a:ea typeface="Manrope"/>
                <a:cs typeface="Manrope"/>
                <a:sym typeface="Manrope"/>
              </a:rPr>
              <a:t>Your solution should be able to explain the following:</a:t>
            </a:r>
            <a:endParaRPr lang="en-US" sz="1700" b="1" dirty="0">
              <a:solidFill>
                <a:srgbClr val="202729"/>
              </a:solidFill>
              <a:latin typeface="Manrope"/>
              <a:ea typeface="Manrope"/>
              <a:cs typeface="Manrope"/>
              <a:sym typeface="Manrope"/>
            </a:endParaRPr>
          </a:p>
          <a:p>
            <a:pPr marL="457200" lvl="0" indent="-330200" algn="l" rtl="0">
              <a:lnSpc>
                <a:spcPct val="115000"/>
              </a:lnSpc>
              <a:spcBef>
                <a:spcPts val="1200"/>
              </a:spcBef>
              <a:spcAft>
                <a:spcPts val="0"/>
              </a:spcAft>
              <a:buClr>
                <a:srgbClr val="202729"/>
              </a:buClr>
              <a:buSzPts val="1600"/>
              <a:buFont typeface="Manrope SemiBold"/>
              <a:buChar char="●"/>
            </a:pPr>
            <a:r>
              <a:rPr lang="en-US" sz="1600" dirty="0">
                <a:solidFill>
                  <a:srgbClr val="202729"/>
                </a:solidFill>
                <a:latin typeface="Manrope SemiBold"/>
                <a:ea typeface="Manrope SemiBold"/>
                <a:cs typeface="Manrope SemiBold"/>
                <a:sym typeface="Manrope SemiBold"/>
              </a:rPr>
              <a:t>How different is it from any of the other existing ideas?</a:t>
            </a:r>
          </a:p>
          <a:p>
            <a:pPr marL="412750" lvl="0" indent="-285750">
              <a:lnSpc>
                <a:spcPct val="115000"/>
              </a:lnSpc>
              <a:spcBef>
                <a:spcPts val="1200"/>
              </a:spcBef>
              <a:buClr>
                <a:srgbClr val="202729"/>
              </a:buClr>
              <a:buSzPts val="1600"/>
              <a:buFont typeface="Courier New" panose="02070309020205020404" pitchFamily="49" charset="0"/>
              <a:buChar char="o"/>
            </a:pPr>
            <a:r>
              <a:rPr lang="en-IN" sz="1600" dirty="0">
                <a:solidFill>
                  <a:srgbClr val="202729"/>
                </a:solidFill>
                <a:latin typeface="Manrope SemiBold"/>
                <a:ea typeface="Manrope SemiBold"/>
                <a:cs typeface="Manrope SemiBold"/>
                <a:sym typeface="Manrope SemiBold"/>
              </a:rPr>
              <a:t> Existing platform recommend  courses not skill gaps</a:t>
            </a:r>
          </a:p>
          <a:p>
            <a:pPr marL="412750" lvl="0" indent="-285750">
              <a:lnSpc>
                <a:spcPct val="115000"/>
              </a:lnSpc>
              <a:spcBef>
                <a:spcPts val="1200"/>
              </a:spcBef>
              <a:buClr>
                <a:srgbClr val="202729"/>
              </a:buClr>
              <a:buSzPts val="1600"/>
              <a:buFont typeface="Courier New" panose="02070309020205020404" pitchFamily="49" charset="0"/>
              <a:buChar char="o"/>
            </a:pPr>
            <a:r>
              <a:rPr lang="en-IN" sz="1600" dirty="0">
                <a:solidFill>
                  <a:srgbClr val="202729"/>
                </a:solidFill>
                <a:latin typeface="Manrope SemiBold"/>
                <a:ea typeface="Manrope SemiBold"/>
                <a:cs typeface="Manrope SemiBold"/>
                <a:sym typeface="Manrope SemiBold"/>
              </a:rPr>
              <a:t>        </a:t>
            </a:r>
            <a:r>
              <a:rPr lang="en-IN" sz="1600">
                <a:solidFill>
                  <a:srgbClr val="202729"/>
                </a:solidFill>
                <a:latin typeface="Manrope SemiBold"/>
                <a:ea typeface="Manrope SemiBold"/>
                <a:cs typeface="Manrope SemiBold"/>
                <a:sym typeface="Manrope SemiBold"/>
              </a:rPr>
              <a:t>No </a:t>
            </a:r>
            <a:r>
              <a:rPr lang="en-IN" sz="1600"/>
              <a:t>prioritization </a:t>
            </a:r>
            <a:r>
              <a:rPr lang="en-IN" sz="1600">
                <a:solidFill>
                  <a:srgbClr val="202729"/>
                </a:solidFill>
                <a:latin typeface="Manrope SemiBold"/>
                <a:ea typeface="Manrope SemiBold"/>
                <a:cs typeface="Manrope SemiBold"/>
                <a:sym typeface="Manrope SemiBold"/>
              </a:rPr>
              <a:t>of </a:t>
            </a:r>
            <a:r>
              <a:rPr lang="en-IN" sz="1600" dirty="0">
                <a:solidFill>
                  <a:srgbClr val="202729"/>
                </a:solidFill>
                <a:latin typeface="Manrope SemiBold"/>
                <a:ea typeface="Manrope SemiBold"/>
                <a:cs typeface="Manrope SemiBold"/>
                <a:sym typeface="Manrope SemiBold"/>
              </a:rPr>
              <a:t>what to learn first </a:t>
            </a:r>
          </a:p>
          <a:p>
            <a:pPr marL="412750" lvl="0" indent="-285750">
              <a:lnSpc>
                <a:spcPct val="115000"/>
              </a:lnSpc>
              <a:spcBef>
                <a:spcPts val="1200"/>
              </a:spcBef>
              <a:buClr>
                <a:srgbClr val="202729"/>
              </a:buClr>
              <a:buSzPts val="1600"/>
              <a:buFont typeface="Courier New" panose="02070309020205020404" pitchFamily="49" charset="0"/>
              <a:buChar char="o"/>
            </a:pPr>
            <a:r>
              <a:rPr lang="en-IN" sz="1600" dirty="0">
                <a:solidFill>
                  <a:srgbClr val="202729"/>
                </a:solidFill>
                <a:latin typeface="Manrope SemiBold"/>
                <a:sym typeface="Manrope SemiBold"/>
              </a:rPr>
              <a:t>        </a:t>
            </a:r>
            <a:r>
              <a:rPr lang="en-US" sz="1600" dirty="0"/>
              <a:t>DYNLEARN focuses only on </a:t>
            </a:r>
            <a:r>
              <a:rPr lang="en-US" sz="1600" b="1" dirty="0"/>
              <a:t>missing and critical skills</a:t>
            </a:r>
            <a:endParaRPr lang="en-US" sz="1600" dirty="0">
              <a:solidFill>
                <a:srgbClr val="202729"/>
              </a:solidFill>
              <a:latin typeface="Manrope SemiBold"/>
              <a:ea typeface="Manrope SemiBold"/>
              <a:cs typeface="Manrope SemiBold"/>
              <a:sym typeface="Manrope SemiBold"/>
            </a:endParaRPr>
          </a:p>
          <a:p>
            <a:pPr marL="457200" lvl="0" indent="-330200" algn="l" rtl="0">
              <a:lnSpc>
                <a:spcPct val="115000"/>
              </a:lnSpc>
              <a:spcBef>
                <a:spcPts val="0"/>
              </a:spcBef>
              <a:spcAft>
                <a:spcPts val="0"/>
              </a:spcAft>
              <a:buClr>
                <a:srgbClr val="202729"/>
              </a:buClr>
              <a:buSzPts val="1600"/>
              <a:buFont typeface="Manrope SemiBold"/>
              <a:buChar char="●"/>
            </a:pPr>
            <a:r>
              <a:rPr lang="en-GB" sz="1600" dirty="0">
                <a:solidFill>
                  <a:srgbClr val="202729"/>
                </a:solidFill>
                <a:latin typeface="Manrope SemiBold"/>
                <a:ea typeface="Manrope SemiBold"/>
                <a:cs typeface="Manrope SemiBold"/>
                <a:sym typeface="Manrope SemiBold"/>
              </a:rPr>
              <a:t>How will it be able to solve the problem?</a:t>
            </a:r>
          </a:p>
          <a:p>
            <a:pPr marL="457200" lvl="0" indent="-330200">
              <a:lnSpc>
                <a:spcPct val="115000"/>
              </a:lnSpc>
              <a:buClr>
                <a:srgbClr val="202729"/>
              </a:buClr>
              <a:buSzPts val="1600"/>
              <a:buFont typeface="Courier New" panose="02070309020205020404" pitchFamily="49" charset="0"/>
              <a:buChar char="o"/>
            </a:pPr>
            <a:r>
              <a:rPr lang="en-US" sz="1600" dirty="0"/>
              <a:t>Compares student skills with job role requirements</a:t>
            </a:r>
          </a:p>
          <a:p>
            <a:pPr marL="457200" lvl="0" indent="-330200">
              <a:lnSpc>
                <a:spcPct val="115000"/>
              </a:lnSpc>
              <a:buClr>
                <a:srgbClr val="202729"/>
              </a:buClr>
              <a:buSzPts val="1600"/>
              <a:buFont typeface="Courier New" panose="02070309020205020404" pitchFamily="49" charset="0"/>
              <a:buChar char="o"/>
            </a:pPr>
            <a:r>
              <a:rPr lang="en-IN" sz="1600" dirty="0"/>
              <a:t>Clearly identifies missing skills</a:t>
            </a:r>
          </a:p>
          <a:p>
            <a:pPr marL="457200" lvl="0" indent="-330200">
              <a:lnSpc>
                <a:spcPct val="115000"/>
              </a:lnSpc>
              <a:buClr>
                <a:srgbClr val="202729"/>
              </a:buClr>
              <a:buSzPts val="1600"/>
              <a:buFont typeface="Courier New" panose="02070309020205020404" pitchFamily="49" charset="0"/>
              <a:buChar char="o"/>
            </a:pPr>
            <a:r>
              <a:rPr lang="en-US" sz="1600" dirty="0"/>
              <a:t>Provides learning priority instead of random suggestions</a:t>
            </a:r>
            <a:endParaRPr sz="1600" dirty="0">
              <a:solidFill>
                <a:srgbClr val="202729"/>
              </a:solidFill>
              <a:latin typeface="Manrope SemiBold"/>
              <a:ea typeface="Manrope SemiBold"/>
              <a:cs typeface="Manrope SemiBold"/>
              <a:sym typeface="Manrope SemiBold"/>
            </a:endParaRPr>
          </a:p>
          <a:p>
            <a:pPr marL="457200" lvl="0" indent="-330200" algn="l" rtl="0">
              <a:lnSpc>
                <a:spcPct val="115000"/>
              </a:lnSpc>
              <a:spcBef>
                <a:spcPts val="0"/>
              </a:spcBef>
              <a:spcAft>
                <a:spcPts val="0"/>
              </a:spcAft>
              <a:buClr>
                <a:srgbClr val="202729"/>
              </a:buClr>
              <a:buSzPts val="1600"/>
              <a:buFont typeface="Manrope SemiBold"/>
              <a:buChar char="●"/>
            </a:pPr>
            <a:r>
              <a:rPr lang="en-GB" sz="1600" dirty="0">
                <a:solidFill>
                  <a:srgbClr val="202729"/>
                </a:solidFill>
                <a:latin typeface="Manrope SemiBold"/>
                <a:ea typeface="Manrope SemiBold"/>
                <a:cs typeface="Manrope SemiBold"/>
                <a:sym typeface="Manrope SemiBold"/>
              </a:rPr>
              <a:t>USP of the proposed solution</a:t>
            </a:r>
          </a:p>
          <a:p>
            <a:pPr marL="412750" indent="-285750">
              <a:lnSpc>
                <a:spcPct val="115000"/>
              </a:lnSpc>
              <a:buClr>
                <a:srgbClr val="202729"/>
              </a:buClr>
              <a:buSzPts val="1600"/>
              <a:buFont typeface="Courier New" panose="02070309020205020404" pitchFamily="49" charset="0"/>
              <a:buChar char="o"/>
            </a:pPr>
            <a:r>
              <a:rPr lang="en-US" sz="1600" dirty="0"/>
              <a:t>AI-driven skill gap analysis with priority-based learning direction</a:t>
            </a:r>
          </a:p>
          <a:p>
            <a:pPr marL="127000" lvl="0" algn="l" rtl="0">
              <a:lnSpc>
                <a:spcPct val="115000"/>
              </a:lnSpc>
              <a:spcBef>
                <a:spcPts val="0"/>
              </a:spcBef>
              <a:spcAft>
                <a:spcPts val="0"/>
              </a:spcAft>
              <a:buClr>
                <a:srgbClr val="202729"/>
              </a:buClr>
              <a:buSzPts val="1600"/>
            </a:pPr>
            <a:endParaRPr sz="1600" dirty="0">
              <a:solidFill>
                <a:srgbClr val="202729"/>
              </a:solidFill>
              <a:latin typeface="Manrope SemiBold"/>
              <a:ea typeface="Manrope SemiBold"/>
              <a:cs typeface="Manrope SemiBold"/>
              <a:sym typeface="Manrope SemiBold"/>
            </a:endParaRPr>
          </a:p>
          <a:p>
            <a:pPr marL="0" lvl="0" indent="0" algn="l" rtl="0">
              <a:lnSpc>
                <a:spcPct val="115000"/>
              </a:lnSpc>
              <a:spcBef>
                <a:spcPts val="1200"/>
              </a:spcBef>
              <a:spcAft>
                <a:spcPts val="1200"/>
              </a:spcAft>
              <a:buSzPts val="935"/>
              <a:buNone/>
            </a:pPr>
            <a:endParaRPr sz="1600" dirty="0">
              <a:solidFill>
                <a:srgbClr val="202729"/>
              </a:solidFill>
              <a:latin typeface="Manrope SemiBold"/>
              <a:ea typeface="Manrope SemiBold"/>
              <a:cs typeface="Manrope SemiBold"/>
              <a:sym typeface="Manrope Semi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pic>
        <p:nvPicPr>
          <p:cNvPr id="74" name="Google Shape;74;p16"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75" name="Google Shape;75;p16"/>
          <p:cNvSpPr txBox="1"/>
          <p:nvPr/>
        </p:nvSpPr>
        <p:spPr>
          <a:xfrm>
            <a:off x="311700" y="863550"/>
            <a:ext cx="7531800"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935"/>
              <a:buNone/>
            </a:pPr>
            <a:r>
              <a:rPr lang="en-GB" sz="1700" b="1" dirty="0">
                <a:solidFill>
                  <a:srgbClr val="202729"/>
                </a:solidFill>
                <a:latin typeface="Manrope"/>
                <a:ea typeface="Manrope"/>
                <a:cs typeface="Manrope"/>
                <a:sym typeface="Manrope"/>
              </a:rPr>
              <a:t>List of features offered by the solution</a:t>
            </a:r>
            <a:endParaRPr sz="1700" b="1" dirty="0">
              <a:solidFill>
                <a:srgbClr val="202729"/>
              </a:solidFill>
              <a:latin typeface="Manrope"/>
              <a:ea typeface="Manrope"/>
              <a:cs typeface="Manrope"/>
              <a:sym typeface="Manrope"/>
            </a:endParaRPr>
          </a:p>
          <a:p>
            <a:r>
              <a:rPr lang="en-US" b="1" dirty="0"/>
              <a:t>Core Features</a:t>
            </a:r>
          </a:p>
          <a:p>
            <a:r>
              <a:rPr lang="en-US" dirty="0"/>
              <a:t>Student skill input (manual / resume)</a:t>
            </a:r>
          </a:p>
          <a:p>
            <a:r>
              <a:rPr lang="en-US" dirty="0"/>
              <a:t>Target job role selection</a:t>
            </a:r>
          </a:p>
          <a:p>
            <a:r>
              <a:rPr lang="en-US" dirty="0"/>
              <a:t>AI-based skill comparison</a:t>
            </a:r>
          </a:p>
          <a:p>
            <a:r>
              <a:rPr lang="en-US" dirty="0"/>
              <a:t>Skill gap identification</a:t>
            </a:r>
          </a:p>
          <a:p>
            <a:r>
              <a:rPr lang="en-US" dirty="0"/>
              <a:t>Priority-based learning order</a:t>
            </a:r>
          </a:p>
          <a:p>
            <a:r>
              <a:rPr lang="en-US" dirty="0"/>
              <a:t>Simple and student-friendly interface</a:t>
            </a:r>
          </a:p>
          <a:p>
            <a:pPr marL="0" lvl="0" indent="0" algn="l" rtl="0">
              <a:lnSpc>
                <a:spcPct val="115000"/>
              </a:lnSpc>
              <a:spcBef>
                <a:spcPts val="1200"/>
              </a:spcBef>
              <a:spcAft>
                <a:spcPts val="1200"/>
              </a:spcAft>
              <a:buSzPts val="935"/>
              <a:buNone/>
            </a:pPr>
            <a:r>
              <a:rPr lang="en-GB" dirty="0">
                <a:solidFill>
                  <a:srgbClr val="434343"/>
                </a:solidFill>
                <a:latin typeface="Manrope"/>
                <a:ea typeface="Manrope"/>
                <a:cs typeface="Manrope"/>
                <a:sym typeface="Manrope"/>
              </a:rPr>
              <a:t>.</a:t>
            </a:r>
            <a:endParaRPr dirty="0">
              <a:solidFill>
                <a:srgbClr val="434343"/>
              </a:solidFill>
              <a:latin typeface="Manrope"/>
              <a:ea typeface="Manrope"/>
              <a:cs typeface="Manrope"/>
              <a:sym typeface="Manrop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pic>
        <p:nvPicPr>
          <p:cNvPr id="80" name="Google Shape;80;p17"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81" name="Google Shape;81;p17"/>
          <p:cNvSpPr txBox="1"/>
          <p:nvPr/>
        </p:nvSpPr>
        <p:spPr>
          <a:xfrm>
            <a:off x="281964" y="610350"/>
            <a:ext cx="7531800"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935"/>
              <a:buNone/>
            </a:pPr>
            <a:r>
              <a:rPr lang="en-GB" sz="1700" b="1" dirty="0">
                <a:solidFill>
                  <a:srgbClr val="202729"/>
                </a:solidFill>
                <a:latin typeface="Manrope"/>
                <a:ea typeface="Manrope"/>
                <a:cs typeface="Manrope"/>
                <a:sym typeface="Manrope"/>
              </a:rPr>
              <a:t>Process flow diagram or Use-case diagram</a:t>
            </a:r>
            <a:endParaRPr sz="1700" b="1" dirty="0">
              <a:solidFill>
                <a:srgbClr val="202729"/>
              </a:solidFill>
              <a:latin typeface="Manrope"/>
              <a:ea typeface="Manrope"/>
              <a:cs typeface="Manrope"/>
              <a:sym typeface="Manrope"/>
            </a:endParaRPr>
          </a:p>
          <a:p>
            <a:pPr marL="0" lvl="0" indent="0" algn="l" rtl="0">
              <a:lnSpc>
                <a:spcPct val="115000"/>
              </a:lnSpc>
              <a:spcBef>
                <a:spcPts val="1200"/>
              </a:spcBef>
              <a:spcAft>
                <a:spcPts val="1200"/>
              </a:spcAft>
              <a:buSzPts val="935"/>
              <a:buNone/>
            </a:pPr>
            <a:endParaRPr dirty="0">
              <a:solidFill>
                <a:srgbClr val="434343"/>
              </a:solidFill>
              <a:latin typeface="Manrope"/>
              <a:ea typeface="Manrope"/>
              <a:cs typeface="Manrope"/>
              <a:sym typeface="Manrope"/>
            </a:endParaRPr>
          </a:p>
        </p:txBody>
      </p:sp>
      <p:pic>
        <p:nvPicPr>
          <p:cNvPr id="3" name="Picture 2">
            <a:extLst>
              <a:ext uri="{FF2B5EF4-FFF2-40B4-BE49-F238E27FC236}">
                <a16:creationId xmlns:a16="http://schemas.microsoft.com/office/drawing/2014/main" id="{0FECCABB-9EE9-F893-E607-A4819F032110}"/>
              </a:ext>
            </a:extLst>
          </p:cNvPr>
          <p:cNvPicPr>
            <a:picLocks noChangeAspect="1"/>
          </p:cNvPicPr>
          <p:nvPr/>
        </p:nvPicPr>
        <p:blipFill>
          <a:blip r:embed="rId4"/>
          <a:stretch>
            <a:fillRect/>
          </a:stretch>
        </p:blipFill>
        <p:spPr>
          <a:xfrm>
            <a:off x="1184160" y="863550"/>
            <a:ext cx="6155103" cy="45331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9"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93" name="Google Shape;93;p19"/>
          <p:cNvSpPr txBox="1"/>
          <p:nvPr/>
        </p:nvSpPr>
        <p:spPr>
          <a:xfrm>
            <a:off x="311700" y="863550"/>
            <a:ext cx="7531800" cy="3669600"/>
          </a:xfrm>
          <a:prstGeom prst="rect">
            <a:avLst/>
          </a:prstGeom>
          <a:noFill/>
          <a:ln>
            <a:noFill/>
          </a:ln>
        </p:spPr>
        <p:txBody>
          <a:bodyPr spcFirstLastPara="1" wrap="square" lIns="91425" tIns="91425" rIns="91425" bIns="91425" anchor="t" anchorCtr="0">
            <a:normAutofit/>
          </a:bodyPr>
          <a:lstStyle/>
          <a:p>
            <a:r>
              <a:rPr lang="en-GB" sz="1700" b="1" dirty="0">
                <a:solidFill>
                  <a:srgbClr val="202729"/>
                </a:solidFill>
                <a:latin typeface="Manrope"/>
                <a:ea typeface="Manrope"/>
                <a:cs typeface="Manrope"/>
                <a:sym typeface="Manrope"/>
              </a:rPr>
              <a:t>Architecture diagram of the proposed solution:</a:t>
            </a:r>
          </a:p>
          <a:p>
            <a:r>
              <a:rPr lang="en-IN" b="1" dirty="0"/>
              <a:t>High-Level Architecture</a:t>
            </a:r>
          </a:p>
          <a:p>
            <a:r>
              <a:rPr lang="en-IN" b="1" dirty="0"/>
              <a:t>Frontend:</a:t>
            </a:r>
            <a:r>
              <a:rPr lang="en-IN" dirty="0"/>
              <a:t> Student web interface</a:t>
            </a:r>
          </a:p>
          <a:p>
            <a:r>
              <a:rPr lang="en-IN" b="1" dirty="0"/>
              <a:t>Backend:</a:t>
            </a:r>
            <a:r>
              <a:rPr lang="en-IN" dirty="0"/>
              <a:t> Skill processing logic</a:t>
            </a:r>
          </a:p>
          <a:p>
            <a:r>
              <a:rPr lang="en-IN" b="1" dirty="0"/>
              <a:t>AI Layer:</a:t>
            </a:r>
            <a:r>
              <a:rPr lang="en-IN" dirty="0"/>
              <a:t> Skill comparison &amp; prioritization engine</a:t>
            </a:r>
          </a:p>
          <a:p>
            <a:r>
              <a:rPr lang="en-IN" b="1" dirty="0"/>
              <a:t>Database:</a:t>
            </a:r>
            <a:r>
              <a:rPr lang="en-IN" dirty="0"/>
              <a:t> Stores skill profiles and analysis results</a:t>
            </a:r>
          </a:p>
          <a:p>
            <a:pPr marL="0" lvl="0" indent="0" algn="l" rtl="0">
              <a:lnSpc>
                <a:spcPct val="115000"/>
              </a:lnSpc>
              <a:spcBef>
                <a:spcPts val="0"/>
              </a:spcBef>
              <a:spcAft>
                <a:spcPts val="1200"/>
              </a:spcAft>
              <a:buSzPts val="935"/>
              <a:buNone/>
            </a:pPr>
            <a:endParaRPr dirty="0">
              <a:solidFill>
                <a:srgbClr val="434343"/>
              </a:solidFill>
              <a:latin typeface="Manrope"/>
              <a:ea typeface="Manrope"/>
              <a:cs typeface="Manrope"/>
              <a:sym typeface="Manrop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20"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99" name="Google Shape;99;p20"/>
          <p:cNvSpPr txBox="1"/>
          <p:nvPr/>
        </p:nvSpPr>
        <p:spPr>
          <a:xfrm>
            <a:off x="311700" y="863550"/>
            <a:ext cx="7531800"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935"/>
              <a:buNone/>
            </a:pPr>
            <a:r>
              <a:rPr lang="en-GB" sz="1700" b="1" dirty="0">
                <a:solidFill>
                  <a:srgbClr val="202729"/>
                </a:solidFill>
                <a:latin typeface="Manrope"/>
                <a:ea typeface="Manrope"/>
                <a:cs typeface="Manrope"/>
                <a:sym typeface="Manrope"/>
              </a:rPr>
              <a:t>Technologies to be used in the solution:</a:t>
            </a:r>
          </a:p>
          <a:p>
            <a:pPr marL="0" lvl="0" indent="0" algn="l" rtl="0">
              <a:lnSpc>
                <a:spcPct val="115000"/>
              </a:lnSpc>
              <a:spcBef>
                <a:spcPts val="0"/>
              </a:spcBef>
              <a:spcAft>
                <a:spcPts val="1200"/>
              </a:spcAft>
              <a:buSzPts val="935"/>
              <a:buNone/>
            </a:pPr>
            <a:endParaRPr dirty="0">
              <a:solidFill>
                <a:srgbClr val="434343"/>
              </a:solidFill>
              <a:latin typeface="Manrope"/>
              <a:ea typeface="Manrope"/>
              <a:cs typeface="Manrope"/>
              <a:sym typeface="Manrope"/>
            </a:endParaRPr>
          </a:p>
        </p:txBody>
      </p:sp>
      <p:sp>
        <p:nvSpPr>
          <p:cNvPr id="4" name="TextBox 3">
            <a:extLst>
              <a:ext uri="{FF2B5EF4-FFF2-40B4-BE49-F238E27FC236}">
                <a16:creationId xmlns:a16="http://schemas.microsoft.com/office/drawing/2014/main" id="{AEB8CBEC-6392-FC5E-A79A-E8AC7F5603D3}"/>
              </a:ext>
            </a:extLst>
          </p:cNvPr>
          <p:cNvSpPr txBox="1"/>
          <p:nvPr/>
        </p:nvSpPr>
        <p:spPr>
          <a:xfrm>
            <a:off x="379141" y="1226634"/>
            <a:ext cx="6928625" cy="2676293"/>
          </a:xfrm>
          <a:prstGeom prst="rect">
            <a:avLst/>
          </a:prstGeom>
          <a:noFill/>
        </p:spPr>
        <p:txBody>
          <a:bodyPr wrap="square" rtlCol="0">
            <a:spAutoFit/>
          </a:bodyPr>
          <a:lstStyle/>
          <a:p>
            <a:endParaRPr lang="en-IN" dirty="0"/>
          </a:p>
        </p:txBody>
      </p:sp>
      <p:sp>
        <p:nvSpPr>
          <p:cNvPr id="7" name="Google Shape;99;p20">
            <a:extLst>
              <a:ext uri="{FF2B5EF4-FFF2-40B4-BE49-F238E27FC236}">
                <a16:creationId xmlns:a16="http://schemas.microsoft.com/office/drawing/2014/main" id="{8C637B77-2F91-3494-4BF3-D7BAFB97BC45}"/>
              </a:ext>
            </a:extLst>
          </p:cNvPr>
          <p:cNvSpPr txBox="1"/>
          <p:nvPr/>
        </p:nvSpPr>
        <p:spPr>
          <a:xfrm>
            <a:off x="690841" y="3040697"/>
            <a:ext cx="7531800"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935"/>
              <a:buNone/>
            </a:pPr>
            <a:endParaRPr lang="en-GB" sz="1700" b="1" dirty="0">
              <a:solidFill>
                <a:srgbClr val="202729"/>
              </a:solidFill>
              <a:latin typeface="Manrope"/>
              <a:ea typeface="Manrope"/>
              <a:cs typeface="Manrope"/>
              <a:sym typeface="Manrope"/>
            </a:endParaRPr>
          </a:p>
          <a:p>
            <a:pPr marL="0" lvl="0" indent="0" algn="l" rtl="0">
              <a:lnSpc>
                <a:spcPct val="115000"/>
              </a:lnSpc>
              <a:spcBef>
                <a:spcPts val="0"/>
              </a:spcBef>
              <a:spcAft>
                <a:spcPts val="1200"/>
              </a:spcAft>
              <a:buSzPts val="935"/>
              <a:buNone/>
            </a:pPr>
            <a:endParaRPr dirty="0">
              <a:solidFill>
                <a:srgbClr val="434343"/>
              </a:solidFill>
              <a:latin typeface="Manrope"/>
              <a:ea typeface="Manrope"/>
              <a:cs typeface="Manrope"/>
              <a:sym typeface="Manrope"/>
            </a:endParaRPr>
          </a:p>
        </p:txBody>
      </p:sp>
      <p:sp>
        <p:nvSpPr>
          <p:cNvPr id="8" name="Rectangle 7">
            <a:extLst>
              <a:ext uri="{FF2B5EF4-FFF2-40B4-BE49-F238E27FC236}">
                <a16:creationId xmlns:a16="http://schemas.microsoft.com/office/drawing/2014/main" id="{8A77F081-179E-3C15-4040-9B2BEE4ACB62}"/>
              </a:ext>
            </a:extLst>
          </p:cNvPr>
          <p:cNvSpPr>
            <a:spLocks noChangeArrowheads="1"/>
          </p:cNvSpPr>
          <p:nvPr/>
        </p:nvSpPr>
        <p:spPr bwMode="auto">
          <a:xfrm>
            <a:off x="379141" y="217714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Frontend: Web UI (HTML, CSS, React)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Backend: Python / Node.js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AI: LLM-based skill analysis &amp; recommendations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Database: Cloud-based database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Authentication: Basic login (optional)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pic>
        <p:nvPicPr>
          <p:cNvPr id="110" name="Google Shape;110;p22"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111" name="Google Shape;111;p22"/>
          <p:cNvSpPr txBox="1"/>
          <p:nvPr/>
        </p:nvSpPr>
        <p:spPr>
          <a:xfrm>
            <a:off x="311700" y="863550"/>
            <a:ext cx="7531800"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Clr>
                <a:srgbClr val="000000"/>
              </a:buClr>
              <a:buSzPts val="935"/>
              <a:buFont typeface="Arial"/>
              <a:buNone/>
            </a:pPr>
            <a:r>
              <a:rPr lang="en-GB" sz="1700" b="1" dirty="0">
                <a:solidFill>
                  <a:srgbClr val="202729"/>
                </a:solidFill>
                <a:latin typeface="Manrope"/>
                <a:ea typeface="Manrope"/>
                <a:cs typeface="Manrope"/>
                <a:sym typeface="Manrope"/>
              </a:rPr>
              <a:t>Add as per the requirements for the hackathon:</a:t>
            </a:r>
          </a:p>
          <a:p>
            <a:r>
              <a:rPr lang="en-US" b="1" dirty="0"/>
              <a:t>Impact</a:t>
            </a:r>
          </a:p>
          <a:p>
            <a:r>
              <a:rPr lang="en-US" dirty="0"/>
              <a:t>Improves learning productivity</a:t>
            </a:r>
          </a:p>
          <a:p>
            <a:r>
              <a:rPr lang="en-US" dirty="0"/>
              <a:t>Reduces confusion and overload</a:t>
            </a:r>
          </a:p>
          <a:p>
            <a:r>
              <a:rPr lang="en-US" dirty="0"/>
              <a:t>Helps students learn with focus</a:t>
            </a:r>
          </a:p>
          <a:p>
            <a:r>
              <a:rPr lang="en-US" dirty="0"/>
              <a:t>Especially useful for Tier-2 / Tier-3 college students</a:t>
            </a:r>
          </a:p>
          <a:p>
            <a:r>
              <a:rPr lang="en-US" b="1" dirty="0"/>
              <a:t>Beneficiaries</a:t>
            </a:r>
          </a:p>
          <a:p>
            <a:r>
              <a:rPr lang="en-US" dirty="0"/>
              <a:t>College students</a:t>
            </a:r>
          </a:p>
          <a:p>
            <a:r>
              <a:rPr lang="en-US" dirty="0"/>
              <a:t>Freshers</a:t>
            </a:r>
          </a:p>
          <a:p>
            <a:r>
              <a:rPr lang="en-US" dirty="0"/>
              <a:t>Self-learners</a:t>
            </a:r>
          </a:p>
          <a:p>
            <a:pPr marL="0" lvl="0" indent="0" algn="l" rtl="0">
              <a:lnSpc>
                <a:spcPct val="115000"/>
              </a:lnSpc>
              <a:spcBef>
                <a:spcPts val="0"/>
              </a:spcBef>
              <a:spcAft>
                <a:spcPts val="1200"/>
              </a:spcAft>
              <a:buClr>
                <a:srgbClr val="000000"/>
              </a:buClr>
              <a:buSzPts val="935"/>
              <a:buFont typeface="Arial"/>
              <a:buNone/>
            </a:pPr>
            <a:endParaRPr dirty="0">
              <a:solidFill>
                <a:srgbClr val="434343"/>
              </a:solidFill>
              <a:latin typeface="Manrope"/>
              <a:ea typeface="Manrope"/>
              <a:cs typeface="Manrope"/>
              <a:sym typeface="Manrope"/>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23" title="AI for Bharddat BANNER – 5.png"/>
          <p:cNvPicPr preferRelativeResize="0"/>
          <p:nvPr/>
        </p:nvPicPr>
        <p:blipFill rotWithShape="1">
          <a:blip r:embed="rId3">
            <a:alphaModFix/>
          </a:blip>
          <a:srcRect/>
          <a:stretch/>
        </p:blipFill>
        <p:spPr>
          <a:xfrm>
            <a:off x="0"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421</Words>
  <Application>Microsoft Office PowerPoint</Application>
  <PresentationFormat>On-screen Show (16:9)</PresentationFormat>
  <Paragraphs>50</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Manrope SemiBold</vt:lpstr>
      <vt:lpstr>Courier New</vt:lpstr>
      <vt:lpstr>Arial</vt:lpstr>
      <vt:lpstr>Manrope</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Shravani Kolte</cp:lastModifiedBy>
  <cp:revision>2</cp:revision>
  <dcterms:modified xsi:type="dcterms:W3CDTF">2026-01-25T09:58:46Z</dcterms:modified>
</cp:coreProperties>
</file>